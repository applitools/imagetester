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6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5.xml"/><Relationship Id="rId32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world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db29c7b3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db29c7b3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db29c7b3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7db29c7b3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e1e29b9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7e1e29b9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e1e29b9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7e1e29b9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db29c7b3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db29c7b3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7e3a93977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7e3a9397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e3a9397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e3a9397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e1e29b9b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e1e29b9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db29c7b3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db29c7b3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e1e29b9b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e1e29b9b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e1e29b9b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e1e29b9b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db29c7b3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db29c7b3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db29c7b3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db29c7b3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db29c7b3a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db29c7b3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db29c7b3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db29c7b3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db29c7b3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7db29c7b3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7e1e29b9b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7e1e29b9b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7db29c7b3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db29c7b3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7f564d65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7f564d65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db29c7b3a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db29c7b3a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7db29c7b3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7db29c7b3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7e1e29b9b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7e1e29b9b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8dae178c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8dae178c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mailto:Denis.styrt@applitools.com" TargetMode="External"/><Relationship Id="rId4" Type="http://schemas.openxmlformats.org/officeDocument/2006/relationships/hyperlink" Target="mailto:Adam.Carmi@applitool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Dealing with sensitive data in support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Applitools Support - September,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considered sensitive information?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Customer code can contain potentially sensitive information, including but not limited to: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Keys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Proprietary information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Information about future company products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4. Usernames/Passwords</a:t>
            </a:r>
            <a:br>
              <a:rPr lang="en"/>
            </a:br>
            <a:br>
              <a:rPr lang="en"/>
            </a:br>
            <a:r>
              <a:rPr lang="en"/>
              <a:t>Don’t share customer code unless absolutely necessary. </a:t>
            </a:r>
            <a:endParaRPr/>
          </a:p>
        </p:txBody>
      </p:sp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Code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Do not:</a:t>
            </a:r>
            <a:br>
              <a:rPr b="1" lang="en" sz="1600"/>
            </a:br>
            <a:br>
              <a:rPr b="1" lang="en" sz="1600"/>
            </a:br>
            <a:r>
              <a:rPr lang="en" sz="1600"/>
              <a:t>1. Post code with proprietary information on Slack or email code to anyone that wasn’t an original recipient.</a:t>
            </a:r>
            <a:br>
              <a:rPr lang="en" sz="1600"/>
            </a:br>
            <a:br>
              <a:rPr lang="en" sz="1600"/>
            </a:br>
            <a:r>
              <a:rPr lang="en" sz="1600"/>
              <a:t>2. Use external tools that accept code as input with customer code.</a:t>
            </a:r>
            <a:endParaRPr sz="1600"/>
          </a:p>
        </p:txBody>
      </p:sp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Code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7285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sensitive data from code before sharing	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254700" y="2571750"/>
            <a:ext cx="4678200" cy="19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338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rgbClr val="2E95D3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apiKey = 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"ACTUAL_KEY"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rgbClr val="2E95D3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username = 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"ACTUAL_USERNAME"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rgbClr val="2E95D3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password = 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"ACTUAL_PASSWORD"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206">
              <a:solidFill>
                <a:schemeClr val="dk1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test(‘super secret project’, async ({page}) =&gt; {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await page.goto(“supersecret.demo.com”);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await eyes.check(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   “supersecretpage”, 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   Target.window.fully()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sz="4206">
              <a:solidFill>
                <a:schemeClr val="dk1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95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95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95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sz="95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654250" y="1986450"/>
            <a:ext cx="7505700" cy="3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208"/>
              <a:t>When sharing code, you should obfuscate (substituting sensitive strings with </a:t>
            </a:r>
            <a:r>
              <a:rPr lang="en" sz="6208"/>
              <a:t>a placeholder). </a:t>
            </a:r>
            <a:br>
              <a:rPr lang="en" sz="1500"/>
            </a:br>
            <a:br>
              <a:rPr lang="en" sz="125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sz="105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874075" y="2732225"/>
            <a:ext cx="855900" cy="58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4809325" y="2545900"/>
            <a:ext cx="4678200" cy="19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338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rgbClr val="2E95D3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apiKey = 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"FAKE_API_KEY"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rgbClr val="2E95D3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username = 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"FAKE_USERNAME"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rgbClr val="2E95D3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password = 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"FAKE_PASSWORD"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206">
              <a:solidFill>
                <a:schemeClr val="dk1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test(‘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fake_test_name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’, async ({page}) =&gt; {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await page.goto(“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fakeURL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”);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await eyes.check(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   “</a:t>
            </a:r>
            <a:r>
              <a:rPr lang="en" sz="4206">
                <a:solidFill>
                  <a:srgbClr val="00A67D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fakepage</a:t>
            </a: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”, 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   Target.window.fully()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br>
              <a:rPr lang="en" sz="4206">
                <a:solidFill>
                  <a:schemeClr val="dk1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sz="4206">
              <a:solidFill>
                <a:schemeClr val="dk1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95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95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95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sz="95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271475" y="2144950"/>
            <a:ext cx="2910900" cy="24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Eyes Clouds (Public, Dedicated, Onprem), requires access to different services to operate among them, Authentication and SMTP servers.</a:t>
            </a:r>
            <a:br>
              <a:rPr lang="en"/>
            </a:br>
            <a:br>
              <a:rPr lang="en"/>
            </a:br>
            <a:r>
              <a:rPr lang="en"/>
              <a:t>The Configuration file of each cloud </a:t>
            </a:r>
            <a:r>
              <a:rPr lang="en"/>
              <a:t>contains highly sensitive data visible </a:t>
            </a:r>
            <a:r>
              <a:rPr b="1" lang="en"/>
              <a:t>only to Super Admins </a:t>
            </a:r>
            <a:r>
              <a:rPr lang="en"/>
              <a:t>(see image on the right).</a:t>
            </a:r>
            <a:br>
              <a:rPr lang="en"/>
            </a:br>
            <a:br>
              <a:rPr lang="en"/>
            </a:br>
            <a:r>
              <a:rPr lang="en"/>
              <a:t>Do NOT share/copy or store this information.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New configurations can only be pushed to the cloud in an encrypted form.</a:t>
            </a:r>
            <a:endParaRPr/>
          </a:p>
        </p:txBody>
      </p:sp>
      <p:sp>
        <p:nvSpPr>
          <p:cNvPr id="162" name="Google Shape;162;p18"/>
          <p:cNvSpPr txBox="1"/>
          <p:nvPr>
            <p:ph type="title"/>
          </p:nvPr>
        </p:nvSpPr>
        <p:spPr>
          <a:xfrm>
            <a:off x="387100" y="845600"/>
            <a:ext cx="8486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Configurations </a:t>
            </a:r>
            <a:r>
              <a:rPr lang="en"/>
              <a:t>Structure</a:t>
            </a:r>
            <a:r>
              <a:rPr lang="en"/>
              <a:t> - HIGHLY </a:t>
            </a:r>
            <a:r>
              <a:rPr lang="en"/>
              <a:t>Sensitive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773375" y="2003000"/>
            <a:ext cx="4543500" cy="2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968" y="2003000"/>
            <a:ext cx="5552932" cy="288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271475" y="2144950"/>
            <a:ext cx="3063300" cy="24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Pushing n</a:t>
            </a:r>
            <a:r>
              <a:rPr lang="en"/>
              <a:t>ew configurations to clouds can be done only after being encoded.</a:t>
            </a:r>
            <a:br>
              <a:rPr lang="en"/>
            </a:br>
            <a:br>
              <a:rPr lang="en"/>
            </a:br>
            <a:r>
              <a:rPr b="1" lang="en"/>
              <a:t>Creating Configuration elements is done only by:</a:t>
            </a:r>
            <a:br>
              <a:rPr lang="en"/>
            </a:br>
            <a:br>
              <a:rPr lang="en"/>
            </a:br>
            <a:r>
              <a:rPr lang="en"/>
              <a:t>Applitools CTO - Adam Carmi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Head of Backend team - Yotam Madem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VP Customer Success and Support - Yarden Naveh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Support EMEA team lead  - Liran Barokas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Support US team lead  - Chris Allulis</a:t>
            </a: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170" name="Google Shape;170;p19"/>
          <p:cNvSpPr txBox="1"/>
          <p:nvPr>
            <p:ph type="title"/>
          </p:nvPr>
        </p:nvSpPr>
        <p:spPr>
          <a:xfrm>
            <a:off x="387100" y="845600"/>
            <a:ext cx="8486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Configurations Structure - HIGHLY Sensitive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4773375" y="2003000"/>
            <a:ext cx="4543500" cy="2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968" y="2003000"/>
            <a:ext cx="5552932" cy="288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276" y="2228524"/>
            <a:ext cx="3533300" cy="22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614375" y="1872600"/>
            <a:ext cx="32772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SSO Configurations obtained through BackOffice contain keys and passwords and other sensitive data.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the rare circumstances where it’s necessary to share these configurations </a:t>
            </a:r>
            <a:r>
              <a:rPr b="1" lang="en"/>
              <a:t>internally</a:t>
            </a:r>
            <a:r>
              <a:rPr lang="en"/>
              <a:t> (for example, if there is a backend issue that requires R&amp;D support), </a:t>
            </a:r>
            <a:r>
              <a:rPr b="1" lang="en" u="sng"/>
              <a:t>e</a:t>
            </a:r>
            <a:r>
              <a:rPr b="1" lang="en" u="sng"/>
              <a:t>nsure that all sensitive data (e.g. keys, passwords) are removed.</a:t>
            </a:r>
            <a:endParaRPr/>
          </a:p>
        </p:txBody>
      </p:sp>
      <p:sp>
        <p:nvSpPr>
          <p:cNvPr id="179" name="Google Shape;179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Configurations - Highly Sensitive</a:t>
            </a:r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250" y="1487925"/>
            <a:ext cx="4632119" cy="3038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On-prem configuration files	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On-premise server configuration files contain potentially sensitive information, including but not limited to:</a:t>
            </a:r>
            <a:br>
              <a:rPr lang="en" sz="1600"/>
            </a:br>
            <a:r>
              <a:rPr lang="en" sz="1600"/>
              <a:t>1. Security headers</a:t>
            </a:r>
            <a:br>
              <a:rPr lang="en" sz="1600"/>
            </a:br>
            <a:r>
              <a:rPr lang="en" sz="1600"/>
              <a:t>2. Backup encryption keys</a:t>
            </a:r>
            <a:br>
              <a:rPr lang="en" sz="1600"/>
            </a:br>
            <a:br>
              <a:rPr lang="en" sz="1600"/>
            </a:br>
            <a:r>
              <a:rPr lang="en" sz="1600"/>
              <a:t>The same principles for sharing files containing sensitive data are applicable to on-prem files.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SSO Passwords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a customer has an issue that </a:t>
            </a:r>
            <a:r>
              <a:rPr lang="en"/>
              <a:t>requires</a:t>
            </a:r>
            <a:r>
              <a:rPr lang="en"/>
              <a:t> access to an SSO enabled private </a:t>
            </a:r>
            <a:r>
              <a:rPr lang="en"/>
              <a:t>cloud</a:t>
            </a:r>
            <a:r>
              <a:rPr lang="en"/>
              <a:t>, agents should submit an email request to Adam Carmi.</a:t>
            </a:r>
            <a:br>
              <a:rPr lang="en"/>
            </a:br>
            <a:r>
              <a:rPr lang="en"/>
              <a:t>Adam will send the SSO password over Slack. </a:t>
            </a:r>
            <a:br>
              <a:rPr lang="en"/>
            </a:br>
            <a:r>
              <a:rPr lang="en"/>
              <a:t>As soon as the agent has this password stored in a secure password manager, they should notify Adam, so that he can delete the message. </a:t>
            </a:r>
            <a:br>
              <a:rPr lang="en"/>
            </a:br>
            <a:br>
              <a:rPr lang="en"/>
            </a:br>
            <a:r>
              <a:rPr lang="en"/>
              <a:t>Passwords are meant for the </a:t>
            </a:r>
            <a:r>
              <a:rPr lang="en"/>
              <a:t>recipient</a:t>
            </a:r>
            <a:r>
              <a:rPr lang="en"/>
              <a:t>, and should not be shared.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</a:t>
            </a:r>
            <a:r>
              <a:rPr lang="en"/>
              <a:t> on storing sensitive information</a:t>
            </a:r>
            <a:endParaRPr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continued investigation, it will be necessary to have sensitive information like SSO passwords available to the agent they’ve been granted to. </a:t>
            </a:r>
            <a:br>
              <a:rPr lang="en"/>
            </a:br>
            <a:br>
              <a:rPr lang="en"/>
            </a:br>
            <a:r>
              <a:rPr lang="en"/>
              <a:t>Private information should never be stored anywhere connected to the internet. </a:t>
            </a:r>
            <a:br>
              <a:rPr lang="en"/>
            </a:br>
            <a:br>
              <a:rPr lang="en"/>
            </a:br>
            <a:r>
              <a:rPr lang="en"/>
              <a:t>Passwords should be stored using a secure password manager.  </a:t>
            </a:r>
            <a:br>
              <a:rPr lang="en"/>
            </a:br>
            <a:br>
              <a:rPr lang="en"/>
            </a:br>
            <a:r>
              <a:rPr b="1" lang="en"/>
              <a:t>Do not store information in:</a:t>
            </a:r>
            <a:br>
              <a:rPr lang="en"/>
            </a:br>
            <a:r>
              <a:rPr lang="en"/>
              <a:t>1. apps that communicate over the internet. </a:t>
            </a:r>
            <a:br>
              <a:rPr lang="en"/>
            </a:br>
            <a:r>
              <a:rPr lang="en"/>
              <a:t>2. LocalStorage</a:t>
            </a:r>
            <a:br>
              <a:rPr lang="en"/>
            </a:br>
            <a:r>
              <a:rPr lang="en"/>
              <a:t>3. Slack</a:t>
            </a:r>
            <a:br>
              <a:rPr lang="en"/>
            </a:br>
            <a:r>
              <a:rPr lang="en"/>
              <a:t>4. browser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Data</a:t>
            </a:r>
            <a:endParaRPr/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669950" y="2022125"/>
            <a:ext cx="7199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Potentially sensitive i</a:t>
            </a:r>
            <a:r>
              <a:rPr lang="en"/>
              <a:t>nternal knowledge (account information, future products) should only be shared with those that need to know that information until that information becomes widely available.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sensitive information in various apps </a:t>
            </a:r>
            <a:endParaRPr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Zendesk</a:t>
            </a:r>
            <a:endParaRPr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614375" y="1959225"/>
            <a:ext cx="3166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often useful to add internal notes to Zendesk tickets. We do this to communicate internally with colleagues, and to add additional context to a ticket issue to assist in solving similar issues in the future. </a:t>
            </a:r>
            <a:br>
              <a:rPr lang="en"/>
            </a:br>
            <a:br>
              <a:rPr lang="en"/>
            </a:br>
            <a:r>
              <a:rPr lang="en"/>
              <a:t>Sensitive information should </a:t>
            </a:r>
            <a:r>
              <a:rPr b="1" lang="en"/>
              <a:t>never </a:t>
            </a:r>
            <a:r>
              <a:rPr lang="en"/>
              <a:t>be posted to Zendesk.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Once information is added to a Zendesk ticket, there is no way to edit or delete the data, and will exist on Zendesk servers in perpetuity.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450" y="1732075"/>
            <a:ext cx="4853251" cy="2779212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Zendesk</a:t>
            </a:r>
            <a:endParaRPr/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819150" y="1990725"/>
            <a:ext cx="3450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7"/>
              <a:t>Ensure that any information you send to Zendesk does not contain: </a:t>
            </a:r>
            <a:endParaRPr b="1" sz="1807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7"/>
              <a:t>1. Secret Keys</a:t>
            </a:r>
            <a:endParaRPr sz="1807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7"/>
              <a:t>2. Passwords</a:t>
            </a:r>
            <a:endParaRPr sz="1807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7"/>
              <a:t>3. API keys</a:t>
            </a:r>
            <a:endParaRPr sz="1807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7"/>
              <a:t>4. Non-obfuscated customer information (e.g. product names)</a:t>
            </a:r>
            <a:endParaRPr sz="18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4373950" y="1943600"/>
            <a:ext cx="3450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 it is unclear whether information can be safely sent to Zendesk:</a:t>
            </a:r>
            <a:br>
              <a:rPr lang="en"/>
            </a:br>
            <a:r>
              <a:rPr lang="en"/>
              <a:t>1. Ask your manager if that data can be safely posted, or</a:t>
            </a:r>
            <a:br>
              <a:rPr lang="en"/>
            </a:br>
            <a:r>
              <a:rPr lang="en"/>
              <a:t>2. Opt not to post that data at all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Slack</a:t>
            </a:r>
            <a:endParaRPr/>
          </a:p>
        </p:txBody>
      </p:sp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819150" y="1990725"/>
            <a:ext cx="3261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oftentimes necessary to share information over Slack with colleagues.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any sensitive information is required to be sent, it should be acknowledged by the receiver as soon as possible, and immediately deleted. </a:t>
            </a:r>
            <a:endParaRPr/>
          </a:p>
        </p:txBody>
      </p:sp>
      <p:pic>
        <p:nvPicPr>
          <p:cNvPr id="231" name="Google Shape;23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725" y="1253725"/>
            <a:ext cx="3038499" cy="303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237" name="Google Shape;237;p29"/>
          <p:cNvSpPr txBox="1"/>
          <p:nvPr>
            <p:ph idx="1" type="body"/>
          </p:nvPr>
        </p:nvSpPr>
        <p:spPr>
          <a:xfrm>
            <a:off x="772025" y="1800200"/>
            <a:ext cx="40896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When dealing with sensitive information through email, it is a best-practice to share information with the least number of recipients required.</a:t>
            </a:r>
            <a:br>
              <a:rPr lang="en" sz="1500"/>
            </a:br>
            <a:br>
              <a:rPr lang="en" sz="1500"/>
            </a:br>
            <a:r>
              <a:rPr lang="en" sz="1500"/>
              <a:t>If a thread contains sensitive information, do not add anyone else to the thread unless they absolutely need to have the conversation context. </a:t>
            </a:r>
            <a:endParaRPr sz="1500"/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275" y="1081000"/>
            <a:ext cx="3561576" cy="356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754650" y="1729225"/>
            <a:ext cx="4154100" cy="27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Email is an insecure medium for transmitting sensitive information.</a:t>
            </a:r>
            <a:br>
              <a:rPr lang="en" sz="1400"/>
            </a:br>
            <a:br>
              <a:rPr lang="en" sz="1400"/>
            </a:br>
            <a:r>
              <a:rPr lang="en" sz="1400"/>
              <a:t>Email has many threat vectors, including but not limited to:</a:t>
            </a:r>
            <a:br>
              <a:rPr lang="en" sz="1400"/>
            </a:br>
            <a:r>
              <a:rPr lang="en" sz="1400"/>
              <a:t>1. Storage of email data on servers</a:t>
            </a:r>
            <a:br>
              <a:rPr lang="en" sz="1400"/>
            </a:br>
            <a:r>
              <a:rPr lang="en" sz="1400"/>
              <a:t>2. Lack of default end-to-end </a:t>
            </a:r>
            <a:r>
              <a:rPr lang="en" sz="1400"/>
              <a:t>encryption</a:t>
            </a:r>
            <a:r>
              <a:rPr lang="en" sz="1400"/>
              <a:t> through traditional email protocols (SMTP, IMAP, POP3)</a:t>
            </a:r>
            <a:br>
              <a:rPr lang="en" sz="1400"/>
            </a:br>
            <a:r>
              <a:rPr lang="en" sz="1400"/>
              <a:t>3. Lack of native validation of sender identity.  </a:t>
            </a:r>
            <a:endParaRPr sz="1400"/>
          </a:p>
        </p:txBody>
      </p:sp>
      <p:pic>
        <p:nvPicPr>
          <p:cNvPr id="245" name="Google Shape;2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075" y="1049575"/>
            <a:ext cx="3561576" cy="356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services (GPT and online tools)</a:t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819150" y="1990725"/>
            <a:ext cx="4112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assume that all online tools are collecting any data that you send.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would like guidance from an online tool (e.g. ChatGPT), all sensitive information (including unique strings) should be obfuscated.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Never trust a tool that hasn't been internally verified.</a:t>
            </a:r>
            <a:endParaRPr/>
          </a:p>
        </p:txBody>
      </p:sp>
      <p:pic>
        <p:nvPicPr>
          <p:cNvPr id="252" name="Google Shape;2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650" y="1606050"/>
            <a:ext cx="3038499" cy="303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Zoom</a:t>
            </a:r>
            <a:endParaRPr/>
          </a:p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819150" y="1777825"/>
            <a:ext cx="45216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262335"/>
                </a:solidFill>
                <a:highlight>
                  <a:schemeClr val="dk1"/>
                </a:highlight>
              </a:rPr>
              <a:t>Be mindful of sharing your screen in Zoom sessions.</a:t>
            </a:r>
            <a:endParaRPr sz="1450">
              <a:solidFill>
                <a:srgbClr val="262335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262335"/>
                </a:solidFill>
                <a:highlight>
                  <a:schemeClr val="dk1"/>
                </a:highlight>
              </a:rPr>
              <a:t>External people (customers/vendors) should never see:</a:t>
            </a:r>
            <a:endParaRPr b="1" sz="1450">
              <a:solidFill>
                <a:srgbClr val="262335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262335"/>
                </a:solidFill>
                <a:highlight>
                  <a:schemeClr val="dk1"/>
                </a:highlight>
              </a:rPr>
              <a:t>1. Slack conversations</a:t>
            </a:r>
            <a:endParaRPr sz="1450">
              <a:solidFill>
                <a:srgbClr val="262335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262335"/>
                </a:solidFill>
                <a:highlight>
                  <a:schemeClr val="dk1"/>
                </a:highlight>
              </a:rPr>
              <a:t>2. Email</a:t>
            </a:r>
            <a:endParaRPr sz="1450">
              <a:solidFill>
                <a:srgbClr val="262335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262335"/>
                </a:solidFill>
                <a:highlight>
                  <a:schemeClr val="dk1"/>
                </a:highlight>
              </a:rPr>
              <a:t>3. Code that is not customer facing</a:t>
            </a:r>
            <a:endParaRPr sz="1450">
              <a:solidFill>
                <a:srgbClr val="262335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262335"/>
                </a:solidFill>
                <a:highlight>
                  <a:schemeClr val="dk1"/>
                </a:highlight>
              </a:rPr>
              <a:t>4. Usage reports or any other internal information</a:t>
            </a:r>
            <a:endParaRPr sz="1450">
              <a:solidFill>
                <a:srgbClr val="262335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262335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262335"/>
                </a:solidFill>
                <a:highlight>
                  <a:schemeClr val="dk1"/>
                </a:highlight>
              </a:rPr>
              <a:t>This is also true for internal communications. All internal information is on a need-to-know basis.</a:t>
            </a:r>
            <a:endParaRPr sz="1450">
              <a:solidFill>
                <a:srgbClr val="262335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262335"/>
              </a:solidFill>
              <a:highlight>
                <a:srgbClr val="26233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262335"/>
              </a:solidFill>
            </a:endParaRPr>
          </a:p>
        </p:txBody>
      </p:sp>
      <p:pic>
        <p:nvPicPr>
          <p:cNvPr id="259" name="Google Shape;2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5350" y="1952600"/>
            <a:ext cx="3498450" cy="19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819150" y="349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services (GPT and online tools)</a:t>
            </a:r>
            <a:endParaRPr/>
          </a:p>
        </p:txBody>
      </p:sp>
      <p:pic>
        <p:nvPicPr>
          <p:cNvPr id="265" name="Google Shape;2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0500" y="1196550"/>
            <a:ext cx="4218625" cy="35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3"/>
          <p:cNvSpPr txBox="1"/>
          <p:nvPr>
            <p:ph idx="1" type="body"/>
          </p:nvPr>
        </p:nvSpPr>
        <p:spPr>
          <a:xfrm>
            <a:off x="497175" y="2117325"/>
            <a:ext cx="3217800" cy="8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this example, unique strings are obfuscated and can’t possibly be traced back to any existing codebase. 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819150" y="1990725"/>
            <a:ext cx="1985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Always </a:t>
            </a:r>
            <a:r>
              <a:rPr lang="en"/>
              <a:t>assume that any data sent to online tools will be kept in their databases. </a:t>
            </a:r>
            <a:endParaRPr/>
          </a:p>
        </p:txBody>
      </p:sp>
      <p:sp>
        <p:nvSpPr>
          <p:cNvPr id="272" name="Google Shape;272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services (GPT and online tools)</a:t>
            </a:r>
            <a:endParaRPr/>
          </a:p>
        </p:txBody>
      </p:sp>
      <p:pic>
        <p:nvPicPr>
          <p:cNvPr id="273" name="Google Shape;2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800" y="1661175"/>
            <a:ext cx="6010684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Principles	</a:t>
            </a:r>
            <a:endParaRPr/>
          </a:p>
        </p:txBody>
      </p:sp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Principle of least </a:t>
            </a:r>
            <a:r>
              <a:rPr lang="en"/>
              <a:t>privilege</a:t>
            </a:r>
            <a:r>
              <a:rPr lang="en"/>
              <a:t>: information should only be shared and available to those who require it to perform their job.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Sensitive data should never be submitted to servers that can store that data on their own servers, including but not limited to: Zendesk, Slack.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If sensitive information must be sent through Slack, the message should be deleted as soon as possible.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If you are unsure of how to handle certain data, consult with your manager, infosec, or company leadership.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285" name="Google Shape;285;p3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case of a </a:t>
            </a:r>
            <a:r>
              <a:rPr lang="en"/>
              <a:t>security</a:t>
            </a:r>
            <a:r>
              <a:rPr lang="en"/>
              <a:t> incident of any kind you are obliged to inform </a:t>
            </a:r>
            <a:r>
              <a:rPr b="1" lang="en"/>
              <a:t>in </a:t>
            </a:r>
            <a:r>
              <a:rPr b="1" lang="en"/>
              <a:t>writing</a:t>
            </a:r>
            <a:r>
              <a:rPr lang="en"/>
              <a:t> ASAP the following members: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Your Direct Manager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Applitools CISO (</a:t>
            </a:r>
            <a:r>
              <a:rPr lang="en" u="sng">
                <a:solidFill>
                  <a:schemeClr val="hlink"/>
                </a:solidFill>
                <a:hlinkClick r:id="rId3"/>
              </a:rPr>
              <a:t>Denis.styrt@applitools.com</a:t>
            </a:r>
            <a:r>
              <a:rPr lang="en"/>
              <a:t>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Applitools CTO  (</a:t>
            </a:r>
            <a:r>
              <a:rPr lang="en" u="sng">
                <a:solidFill>
                  <a:schemeClr val="hlink"/>
                </a:solidFill>
                <a:hlinkClick r:id="rId4"/>
              </a:rPr>
              <a:t>Adam.Carmi@applitools.com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Share a detailed description of the incident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Address the mitigation of the incident with the highest priority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